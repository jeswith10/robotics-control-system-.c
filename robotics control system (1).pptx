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grandir Bold" charset="1" panose="00000800000000000000"/>
      <p:regular r:id="rId18"/>
    </p:embeddedFont>
    <p:embeddedFont>
      <p:font typeface="Anton" charset="1" panose="00000500000000000000"/>
      <p:regular r:id="rId19"/>
    </p:embeddedFont>
    <p:embeddedFont>
      <p:font typeface="Agrandir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1.jpeg" Type="http://schemas.openxmlformats.org/officeDocument/2006/relationships/image"/><Relationship Id="rId7" Target="../media/image12.jpe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28" r="0" b="-882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06649" y="-65257"/>
            <a:ext cx="10675733" cy="1067573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565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98847" y="826941"/>
            <a:ext cx="8891337" cy="88913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59000"/>
                  </a:srgbClr>
                </a:gs>
                <a:gs pos="100000">
                  <a:srgbClr val="FFFFFF">
                    <a:alpha val="4602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83115" y="1711209"/>
            <a:ext cx="7122801" cy="712280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298847" y="2284742"/>
            <a:ext cx="8692736" cy="588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3"/>
              </a:lnSpc>
            </a:pPr>
            <a:r>
              <a:rPr lang="en-US" b="true" sz="1060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ROBOTICS </a:t>
            </a:r>
          </a:p>
          <a:p>
            <a:pPr algn="ctr">
              <a:lnSpc>
                <a:spcPts val="14853"/>
              </a:lnSpc>
              <a:spcBef>
                <a:spcPct val="0"/>
              </a:spcBef>
            </a:pPr>
            <a:r>
              <a:rPr lang="en-US" b="true" sz="1060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CONTROL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26882" y="3050071"/>
            <a:ext cx="3683366" cy="4114800"/>
          </a:xfrm>
          <a:custGeom>
            <a:avLst/>
            <a:gdLst/>
            <a:ahLst/>
            <a:cxnLst/>
            <a:rect r="r" b="b" t="t" l="l"/>
            <a:pathLst>
              <a:path h="4114800" w="3683366">
                <a:moveTo>
                  <a:pt x="0" y="0"/>
                </a:moveTo>
                <a:lnTo>
                  <a:pt x="3683366" y="0"/>
                </a:lnTo>
                <a:lnTo>
                  <a:pt x="36833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33350"/>
            <a:ext cx="6105749" cy="2020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PROBLEM STATEMENT: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86531" y="2640249"/>
            <a:ext cx="9145028" cy="551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957" indent="-303979" lvl="1">
              <a:lnSpc>
                <a:spcPts val="3350"/>
              </a:lnSpc>
              <a:buFont typeface="Arial"/>
              <a:buChar char="•"/>
            </a:pPr>
            <a:r>
              <a:rPr lang="en-US" sz="2815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The system must support:</a:t>
            </a:r>
          </a:p>
          <a:p>
            <a:pPr algn="l" marL="607957" indent="-303979" lvl="1">
              <a:lnSpc>
                <a:spcPts val="3350"/>
              </a:lnSpc>
              <a:buFont typeface="Arial"/>
              <a:buChar char="•"/>
            </a:pPr>
            <a:r>
              <a:rPr lang="en-US" sz="2815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Add new robots to the system</a:t>
            </a:r>
          </a:p>
          <a:p>
            <a:pPr algn="l" marL="607957" indent="-303979" lvl="1">
              <a:lnSpc>
                <a:spcPts val="3350"/>
              </a:lnSpc>
              <a:buFont typeface="Arial"/>
              <a:buChar char="•"/>
            </a:pPr>
            <a:r>
              <a:rPr lang="en-US" sz="2815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Search for existing robots</a:t>
            </a:r>
          </a:p>
          <a:p>
            <a:pPr algn="l" marL="607957" indent="-303979" lvl="1">
              <a:lnSpc>
                <a:spcPts val="3350"/>
              </a:lnSpc>
              <a:buFont typeface="Arial"/>
              <a:buChar char="•"/>
            </a:pPr>
            <a:r>
              <a:rPr lang="en-US" sz="2815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Update robot configuration and control parameters</a:t>
            </a:r>
          </a:p>
          <a:p>
            <a:pPr algn="l" marL="607957" indent="-303979" lvl="1">
              <a:lnSpc>
                <a:spcPts val="3350"/>
              </a:lnSpc>
              <a:buFont typeface="Arial"/>
              <a:buChar char="•"/>
            </a:pPr>
            <a:r>
              <a:rPr lang="en-US" sz="2815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Delete robot records from the system</a:t>
            </a:r>
          </a:p>
          <a:p>
            <a:pPr algn="l" marL="607957" indent="-303979" lvl="1">
              <a:lnSpc>
                <a:spcPts val="3350"/>
              </a:lnSpc>
              <a:buFont typeface="Arial"/>
              <a:buChar char="•"/>
            </a:pPr>
            <a:r>
              <a:rPr lang="en-US" sz="2815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Display robots in sorted order (e.g., by ID, status, or priority)</a:t>
            </a:r>
          </a:p>
          <a:p>
            <a:pPr algn="l" marL="607957" indent="-303979" lvl="1">
              <a:lnSpc>
                <a:spcPts val="3350"/>
              </a:lnSpc>
              <a:buFont typeface="Arial"/>
              <a:buChar char="•"/>
            </a:pPr>
            <a:r>
              <a:rPr lang="en-US" sz="2815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Efficient management of robot data is crucial for real-time control and coordination in robotic systems</a:t>
            </a:r>
          </a:p>
          <a:p>
            <a:pPr algn="l">
              <a:lnSpc>
                <a:spcPts val="3350"/>
              </a:lnSpc>
            </a:pPr>
          </a:p>
          <a:p>
            <a:pPr algn="l">
              <a:lnSpc>
                <a:spcPts val="335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4063674" y="7456169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99742" y="7796907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899742" y="-1407876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3663119"/>
            <a:ext cx="11620120" cy="335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3850" indent="-296925" lvl="1">
              <a:lnSpc>
                <a:spcPts val="3273"/>
              </a:lnSpc>
              <a:buFont typeface="Arial"/>
              <a:buChar char="•"/>
            </a:pPr>
            <a:r>
              <a:rPr lang="en-US" sz="275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This system can be used in:</a:t>
            </a:r>
          </a:p>
          <a:p>
            <a:pPr algn="l" marL="593850" indent="-296925" lvl="1">
              <a:lnSpc>
                <a:spcPts val="3273"/>
              </a:lnSpc>
              <a:buFont typeface="Arial"/>
              <a:buChar char="•"/>
            </a:pPr>
            <a:r>
              <a:rPr lang="en-US" sz="275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Industrial robot management systems</a:t>
            </a:r>
          </a:p>
          <a:p>
            <a:pPr algn="l" marL="593850" indent="-296925" lvl="1">
              <a:lnSpc>
                <a:spcPts val="3273"/>
              </a:lnSpc>
              <a:buFont typeface="Arial"/>
              <a:buChar char="•"/>
            </a:pPr>
            <a:r>
              <a:rPr lang="en-US" sz="275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Autonomous robot scheduling systems</a:t>
            </a:r>
          </a:p>
          <a:p>
            <a:pPr algn="l" marL="593850" indent="-296925" lvl="1">
              <a:lnSpc>
                <a:spcPts val="3273"/>
              </a:lnSpc>
              <a:buFont typeface="Arial"/>
              <a:buChar char="•"/>
            </a:pPr>
            <a:r>
              <a:rPr lang="en-US" sz="275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Robotics databases and monitoring systems</a:t>
            </a:r>
          </a:p>
          <a:p>
            <a:pPr algn="l" marL="593850" indent="-296925" lvl="1">
              <a:lnSpc>
                <a:spcPts val="3273"/>
              </a:lnSpc>
              <a:buFont typeface="Arial"/>
              <a:buChar char="•"/>
            </a:pPr>
            <a:r>
              <a:rPr lang="en-US" sz="275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Warehouse automation and logistics robots</a:t>
            </a:r>
          </a:p>
          <a:p>
            <a:pPr algn="l" marL="593850" indent="-296925" lvl="1">
              <a:lnSpc>
                <a:spcPts val="3273"/>
              </a:lnSpc>
              <a:buFont typeface="Arial"/>
              <a:buChar char="•"/>
            </a:pPr>
            <a:r>
              <a:rPr lang="en-US" sz="275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✔ Helps in fast data retrieval</a:t>
            </a:r>
          </a:p>
          <a:p>
            <a:pPr algn="l" marL="593850" indent="-296925" lvl="1">
              <a:lnSpc>
                <a:spcPts val="3273"/>
              </a:lnSpc>
              <a:buFont typeface="Arial"/>
              <a:buChar char="•"/>
            </a:pPr>
            <a:r>
              <a:rPr lang="en-US" sz="275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✔ Improves efficiency in real-time robotic operations</a:t>
            </a:r>
          </a:p>
          <a:p>
            <a:pPr algn="l">
              <a:lnSpc>
                <a:spcPts val="3273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063674" y="7456169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9742" y="7796907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99742" y="-1407876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9312404" y="1777240"/>
            <a:ext cx="7125934" cy="7125934"/>
            <a:chOff x="0" y="0"/>
            <a:chExt cx="14840029" cy="148400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588D">
                    <a:alpha val="100000"/>
                  </a:srgbClr>
                </a:gs>
                <a:gs pos="100000">
                  <a:srgbClr val="58A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8"/>
              <a:stretch>
                <a:fillRect l="-24572" t="0" r="-245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8652" y="329614"/>
            <a:ext cx="61057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REAL-WORLD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8652" y="1494347"/>
            <a:ext cx="61057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APPLICATION: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53904" y="278684"/>
            <a:ext cx="1579483" cy="704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YOUR PARA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GRAPH TEXT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37675" y="8830310"/>
            <a:ext cx="144066" cy="91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8652" y="329614"/>
            <a:ext cx="61057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DATA STRUCTURE 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75369" y="329614"/>
            <a:ext cx="61057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-USED BST: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7189" y="1417303"/>
            <a:ext cx="9808254" cy="508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795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What is BST?</a:t>
            </a:r>
          </a:p>
          <a:p>
            <a:pPr algn="l">
              <a:lnSpc>
                <a:spcPts val="3327"/>
              </a:lnSpc>
            </a:pPr>
            <a:r>
              <a:rPr lang="en-US" sz="2795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 A Binary Search Tree (BST) is a hierarchical data structure used to store and organize robot data efficiently.</a:t>
            </a:r>
          </a:p>
          <a:p>
            <a:pPr algn="l">
              <a:lnSpc>
                <a:spcPts val="3327"/>
              </a:lnSpc>
            </a:pPr>
            <a:r>
              <a:rPr lang="en-US" sz="2795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🧩 Why BST for This Project?</a:t>
            </a:r>
          </a:p>
          <a:p>
            <a:pPr algn="l">
              <a:lnSpc>
                <a:spcPts val="3327"/>
              </a:lnSpc>
            </a:pPr>
            <a:r>
              <a:rPr lang="en-US" sz="2795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 ⚡ Fast Search → Quickly locate robots or their status</a:t>
            </a:r>
          </a:p>
          <a:p>
            <a:pPr algn="l">
              <a:lnSpc>
                <a:spcPts val="3327"/>
              </a:lnSpc>
            </a:pPr>
            <a:r>
              <a:rPr lang="en-US" sz="2795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 🔄 Efficient Insert/Delete → Easy addition or removal of robots dynamically</a:t>
            </a:r>
          </a:p>
          <a:p>
            <a:pPr algn="l">
              <a:lnSpc>
                <a:spcPts val="3327"/>
              </a:lnSpc>
            </a:pPr>
            <a:r>
              <a:rPr lang="en-US" sz="2795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 📊 Sorted Output → In-order traversal gives robots in sorted order (by ID/priority)</a:t>
            </a:r>
          </a:p>
          <a:p>
            <a:pPr algn="l">
              <a:lnSpc>
                <a:spcPts val="3327"/>
              </a:lnSpc>
            </a:pPr>
            <a:r>
              <a:rPr lang="en-US" sz="2795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 🧠 Memory Efficient → Uses dynamic memory allocation for flexible control</a:t>
            </a:r>
          </a:p>
          <a:p>
            <a:pPr algn="l">
              <a:lnSpc>
                <a:spcPts val="332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754945" y="1732610"/>
            <a:ext cx="6699817" cy="321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4"/>
              </a:lnSpc>
              <a:spcBef>
                <a:spcPct val="0"/>
              </a:spcBef>
            </a:pPr>
            <a:r>
              <a:rPr lang="en-US" b="true" sz="299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ADVANTAGE:</a:t>
            </a:r>
          </a:p>
          <a:p>
            <a:pPr algn="ctr">
              <a:lnSpc>
                <a:spcPts val="4194"/>
              </a:lnSpc>
              <a:spcBef>
                <a:spcPct val="0"/>
              </a:spcBef>
            </a:pPr>
            <a:r>
              <a:rPr lang="en-US" b="true" sz="299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✔ REDUCES TIME COMPLEXITY COMPARED TO LINEAR SEARCH</a:t>
            </a:r>
          </a:p>
          <a:p>
            <a:pPr algn="ctr">
              <a:lnSpc>
                <a:spcPts val="4194"/>
              </a:lnSpc>
              <a:spcBef>
                <a:spcPct val="0"/>
              </a:spcBef>
            </a:pPr>
            <a:r>
              <a:rPr lang="en-US" b="true" sz="299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✔ IDEAL FOR REAL-TIME ROBOT CONTROL AND MONITORING SYSTEMSH TEXT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31634" y="5687997"/>
            <a:ext cx="10532829" cy="2677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1"/>
              </a:lnSpc>
            </a:pPr>
            <a:r>
              <a:rPr lang="en-US" b="true" sz="298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   50</a:t>
            </a:r>
          </a:p>
          <a:p>
            <a:pPr algn="ctr">
              <a:lnSpc>
                <a:spcPts val="4181"/>
              </a:lnSpc>
            </a:pPr>
            <a:r>
              <a:rPr lang="en-US" sz="29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  /  \</a:t>
            </a:r>
          </a:p>
          <a:p>
            <a:pPr algn="ctr">
              <a:lnSpc>
                <a:spcPts val="4181"/>
              </a:lnSpc>
            </a:pPr>
            <a:r>
              <a:rPr lang="en-US" sz="29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30    70</a:t>
            </a:r>
          </a:p>
          <a:p>
            <a:pPr algn="ctr">
              <a:lnSpc>
                <a:spcPts val="4181"/>
              </a:lnSpc>
            </a:pPr>
            <a:r>
              <a:rPr lang="en-US" sz="29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/ \    / \</a:t>
            </a:r>
          </a:p>
          <a:p>
            <a:pPr algn="ctr">
              <a:lnSpc>
                <a:spcPts val="4181"/>
              </a:lnSpc>
              <a:spcBef>
                <a:spcPct val="0"/>
              </a:spcBef>
            </a:pPr>
            <a:r>
              <a:rPr lang="en-US" b="true" sz="298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 20  40  60</a:t>
            </a:r>
            <a:r>
              <a:rPr lang="en-US" b="true" sz="298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 80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97176"/>
            <a:ext cx="61057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77649" y="197176"/>
            <a:ext cx="61057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DESIGN: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10247" y="2964273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329661"/>
            <a:ext cx="5218569" cy="65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1.USER INTERFACE: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7392" y="2032645"/>
            <a:ext cx="6212277" cy="19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0374" indent="-285187" lvl="1">
              <a:lnSpc>
                <a:spcPts val="36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4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MEN</a:t>
            </a:r>
            <a:r>
              <a:rPr lang="en-US" b="true" sz="264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U-BASED INPUT/OUTPUT</a:t>
            </a:r>
          </a:p>
          <a:p>
            <a:pPr algn="ctr" marL="570374" indent="-285187" lvl="1">
              <a:lnSpc>
                <a:spcPts val="36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4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ALLOWS USER TO SELECT ROBOT OPERATIONS</a:t>
            </a:r>
          </a:p>
          <a:p>
            <a:pPr algn="ctr">
              <a:lnSpc>
                <a:spcPts val="369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-803999" y="3532997"/>
            <a:ext cx="6212277" cy="65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2. BST STORAGE: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39238" y="4915217"/>
            <a:ext cx="9525" cy="37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17392" y="4279806"/>
            <a:ext cx="8197334" cy="2390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9976" indent="-284988" lvl="1">
              <a:lnSpc>
                <a:spcPts val="36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4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STORES ROBOT DATA (ROBOT ID, TASK/STATUS)</a:t>
            </a:r>
          </a:p>
          <a:p>
            <a:pPr algn="ctr" marL="569976" indent="-284988" lvl="1">
              <a:lnSpc>
                <a:spcPts val="36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4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MAINTAINS SORTED ORDER AUTOMATICALLY</a:t>
            </a:r>
          </a:p>
          <a:p>
            <a:pPr algn="ctr">
              <a:lnSpc>
                <a:spcPts val="3696"/>
              </a:lnSpc>
              <a:spcBef>
                <a:spcPct val="0"/>
              </a:spcBef>
            </a:pPr>
            <a:r>
              <a:rPr lang="en-US" b="true" sz="264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803999" y="6508275"/>
            <a:ext cx="8197334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33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3. PROCESSING MODULES: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898208" y="7508400"/>
            <a:ext cx="9525" cy="37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58645" y="7003575"/>
            <a:ext cx="5585817" cy="2857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9976" indent="-284988" lvl="1">
              <a:lnSpc>
                <a:spcPts val="36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4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INSERT ROBOT</a:t>
            </a:r>
          </a:p>
          <a:p>
            <a:pPr algn="ctr" marL="569976" indent="-284988" lvl="1">
              <a:lnSpc>
                <a:spcPts val="36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4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DELETE ROBOT</a:t>
            </a:r>
          </a:p>
          <a:p>
            <a:pPr algn="ctr" marL="569976" indent="-284988" lvl="1">
              <a:lnSpc>
                <a:spcPts val="36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4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UPDATE ROBOT TASK/STATUS</a:t>
            </a:r>
          </a:p>
          <a:p>
            <a:pPr algn="ctr" marL="569976" indent="-284988" lvl="1">
              <a:lnSpc>
                <a:spcPts val="36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4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SEARCH ROBOT</a:t>
            </a:r>
          </a:p>
          <a:p>
            <a:pPr algn="ctr" marL="569976" indent="-284988" lvl="1">
              <a:lnSpc>
                <a:spcPts val="36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4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DISPLAY ROBOTS</a:t>
            </a:r>
          </a:p>
          <a:p>
            <a:pPr algn="ctr">
              <a:lnSpc>
                <a:spcPts val="3696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283398" y="1329661"/>
            <a:ext cx="5585817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🔄 W</a:t>
            </a:r>
            <a:r>
              <a:rPr lang="en-US" b="true" sz="33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ORKING FLOW: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83398" y="1864966"/>
            <a:ext cx="8588756" cy="145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  <a:spcBef>
                <a:spcPct val="0"/>
              </a:spcBef>
            </a:pPr>
            <a:r>
              <a:rPr lang="en-US" b="true" sz="264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USER INPUT → MENU SELECTION → FUNCTION EXECUTION → BST OPERATION → ROBOT CONTROL / DATA OUTPUTT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93335" y="3527612"/>
            <a:ext cx="8588756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🎯</a:t>
            </a:r>
            <a:r>
              <a:rPr lang="en-US" b="true" sz="33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KEY FEATURES: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70544" y="4434392"/>
            <a:ext cx="8588756" cy="379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  <a:spcBef>
                <a:spcPct val="0"/>
              </a:spcBef>
            </a:pPr>
            <a:r>
              <a:rPr lang="en-US" b="true" sz="264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✔ FAST SEARCHING AND UPDATING OF ROBOT DATA</a:t>
            </a:r>
          </a:p>
          <a:p>
            <a:pPr algn="ctr">
              <a:lnSpc>
                <a:spcPts val="3696"/>
              </a:lnSpc>
              <a:spcBef>
                <a:spcPct val="0"/>
              </a:spcBef>
            </a:pPr>
            <a:r>
              <a:rPr lang="en-US" b="true" sz="264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✔ SORTED DATA USING IN-ORDER TRAVERSAL (BY ROBOT ID / PRIORITY)</a:t>
            </a:r>
          </a:p>
          <a:p>
            <a:pPr algn="ctr">
              <a:lnSpc>
                <a:spcPts val="3696"/>
              </a:lnSpc>
              <a:spcBef>
                <a:spcPct val="0"/>
              </a:spcBef>
            </a:pPr>
            <a:r>
              <a:rPr lang="en-US" b="true" sz="264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✔ DYNAMIC MEMORY ALLOCATION FOR FLEXIBLE ROBOT MANAGEMENT</a:t>
            </a:r>
          </a:p>
          <a:p>
            <a:pPr algn="ctr">
              <a:lnSpc>
                <a:spcPts val="3696"/>
              </a:lnSpc>
              <a:spcBef>
                <a:spcPct val="0"/>
              </a:spcBef>
            </a:pPr>
            <a:r>
              <a:rPr lang="en-US" b="true" sz="264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✔ MODULAR STRUCTURE USING FUNCTIONS FOR EASY CONTROL AND MAINTENANCE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8652" y="133350"/>
            <a:ext cx="61057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CONCEPTS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20323" y="133350"/>
            <a:ext cx="61057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USED: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8652" y="1269127"/>
            <a:ext cx="4383488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1.</a:t>
            </a:r>
            <a:r>
              <a:rPr lang="en-US" b="true" sz="39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FUNCTIONS: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363823"/>
            <a:ext cx="9565761" cy="429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9155" indent="-289578" lvl="1">
              <a:lnSpc>
                <a:spcPts val="37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CREATENODE() → CREATE NEW ROBOT N</a:t>
            </a:r>
            <a:r>
              <a:rPr lang="en-US" b="true" sz="268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ODE</a:t>
            </a:r>
          </a:p>
          <a:p>
            <a:pPr algn="ctr" marL="579155" indent="-289578" lvl="1">
              <a:lnSpc>
                <a:spcPts val="37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INSERT() → ADD A NEW ROBOT</a:t>
            </a:r>
          </a:p>
          <a:p>
            <a:pPr algn="ctr" marL="579155" indent="-289578" lvl="1">
              <a:lnSpc>
                <a:spcPts val="37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SEARCH() → FIND A ROBOT BY ID</a:t>
            </a:r>
          </a:p>
          <a:p>
            <a:pPr algn="ctr" marL="579155" indent="-289578" lvl="1">
              <a:lnSpc>
                <a:spcPts val="37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UPDATE() → UPDATE ROBOT TASK/STATUS</a:t>
            </a:r>
          </a:p>
          <a:p>
            <a:pPr algn="ctr" marL="579155" indent="-289578" lvl="1">
              <a:lnSpc>
                <a:spcPts val="37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FINDMIN() → FIND ROBOT WITH SMALLEST ID/PRIORITY</a:t>
            </a:r>
          </a:p>
          <a:p>
            <a:pPr algn="ctr" marL="579155" indent="-289578" lvl="1">
              <a:lnSpc>
                <a:spcPts val="37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DELETENODE() → REMOVE A ROBOT</a:t>
            </a:r>
          </a:p>
          <a:p>
            <a:pPr algn="ctr" marL="579155" indent="-289578" lvl="1">
              <a:lnSpc>
                <a:spcPts val="37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DISPLAY() → SHOW ALL ROBOTS</a:t>
            </a:r>
          </a:p>
          <a:p>
            <a:pPr algn="ctr">
              <a:lnSpc>
                <a:spcPts val="3755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98652" y="7299474"/>
            <a:ext cx="9565761" cy="98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✔</a:t>
            </a:r>
            <a:r>
              <a:rPr lang="en-US" b="true" sz="49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TOTAL FUNCTIONS: 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29191" y="1269127"/>
            <a:ext cx="9565761" cy="22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2.</a:t>
            </a:r>
            <a:r>
              <a:rPr lang="en-US" b="true" sz="39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STRUCTURE: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192962" y="2354536"/>
            <a:ext cx="9565761" cy="2437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1"/>
              </a:lnSpc>
              <a:spcBef>
                <a:spcPct val="0"/>
              </a:spcBef>
            </a:pPr>
            <a:r>
              <a:rPr lang="en-US" b="true" sz="267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STR</a:t>
            </a:r>
            <a:r>
              <a:rPr lang="en-US" b="true" sz="267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UCT NODE {</a:t>
            </a:r>
          </a:p>
          <a:p>
            <a:pPr algn="ctr">
              <a:lnSpc>
                <a:spcPts val="3751"/>
              </a:lnSpc>
              <a:spcBef>
                <a:spcPct val="0"/>
              </a:spcBef>
            </a:pPr>
            <a:r>
              <a:rPr lang="en-US" b="true" sz="267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INT ROBOTID;</a:t>
            </a:r>
          </a:p>
          <a:p>
            <a:pPr algn="ctr">
              <a:lnSpc>
                <a:spcPts val="3751"/>
              </a:lnSpc>
              <a:spcBef>
                <a:spcPct val="0"/>
              </a:spcBef>
            </a:pPr>
            <a:r>
              <a:rPr lang="en-US" b="true" sz="267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INT TASKID;   // OR STATUS</a:t>
            </a:r>
          </a:p>
          <a:p>
            <a:pPr algn="ctr">
              <a:lnSpc>
                <a:spcPts val="3751"/>
              </a:lnSpc>
              <a:spcBef>
                <a:spcPct val="0"/>
              </a:spcBef>
            </a:pPr>
            <a:r>
              <a:rPr lang="en-US" b="true" sz="267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STRUCT NODE *LEFT, *RIGHT;</a:t>
            </a:r>
          </a:p>
          <a:p>
            <a:pPr algn="ctr">
              <a:lnSpc>
                <a:spcPts val="3751"/>
              </a:lnSpc>
              <a:spcBef>
                <a:spcPct val="0"/>
              </a:spcBef>
            </a:pPr>
            <a:r>
              <a:rPr lang="en-US" b="true" sz="267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};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29191" y="5595255"/>
            <a:ext cx="9565761" cy="22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🔹 3. LOOPS</a:t>
            </a:r>
          </a:p>
          <a:p>
            <a:pPr algn="ctr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6334911"/>
            <a:ext cx="9017927" cy="195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WHILE(1) → MENU LOOP FOR CONTINUOUS ROBOT OPERATIONS</a:t>
            </a:r>
          </a:p>
          <a:p>
            <a:pPr algn="ctr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RECURSION → TREE TRAVERSAL (SEARCH, INSERT, DISPLAY ROBOTS)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✔ USED FOR REPEATING AND MANAGING REAL-TIME OPERATIONS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16415"/>
            <a:ext cx="61057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4. POINTERS: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7189" y="1560324"/>
            <a:ext cx="8299978" cy="230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302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USED FOR:</a:t>
            </a:r>
          </a:p>
          <a:p>
            <a:pPr algn="ctr" marL="653160" indent="-326580" lvl="1">
              <a:lnSpc>
                <a:spcPts val="3085"/>
              </a:lnSpc>
              <a:spcBef>
                <a:spcPct val="0"/>
              </a:spcBef>
              <a:buFont typeface="Arial"/>
              <a:buChar char="•"/>
            </a:pPr>
            <a:r>
              <a:rPr lang="en-US" sz="302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DYNAMIC MEMORY ALLOCATION (MALLOC)</a:t>
            </a:r>
          </a:p>
          <a:p>
            <a:pPr algn="ctr" marL="653160" indent="-326580" lvl="1">
              <a:lnSpc>
                <a:spcPts val="3085"/>
              </a:lnSpc>
              <a:spcBef>
                <a:spcPct val="0"/>
              </a:spcBef>
              <a:buFont typeface="Arial"/>
              <a:buChar char="•"/>
            </a:pPr>
            <a:r>
              <a:rPr lang="en-US" sz="302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LINKING ROBOT NODES</a:t>
            </a:r>
          </a:p>
          <a:p>
            <a:pPr algn="ctr" marL="653160" indent="-326580" lvl="1">
              <a:lnSpc>
                <a:spcPts val="3085"/>
              </a:lnSpc>
              <a:spcBef>
                <a:spcPct val="0"/>
              </a:spcBef>
              <a:buFont typeface="Arial"/>
              <a:buChar char="•"/>
            </a:pPr>
            <a:r>
              <a:rPr lang="en-US" sz="302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TREE TRAVERSAL (NAVIGATING BETWEEN ROBOTS)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302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✔ CORE OF BST IMPLEMENTATION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-393847" y="3756351"/>
            <a:ext cx="7218085" cy="15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8"/>
              </a:lnSpc>
              <a:spcBef>
                <a:spcPct val="0"/>
              </a:spcBef>
            </a:pPr>
            <a:r>
              <a:rPr lang="en-US" b="true" sz="767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5.VARIABLES: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5664285"/>
            <a:ext cx="8299978" cy="327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4177" indent="-327088" lvl="1">
              <a:lnSpc>
                <a:spcPts val="424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2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INTEGER → ROB</a:t>
            </a:r>
            <a:r>
              <a:rPr lang="en-US" b="true" sz="302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OTID, TASKID/STATUS, CHOICE</a:t>
            </a:r>
          </a:p>
          <a:p>
            <a:pPr algn="ctr" marL="654177" indent="-327088" lvl="1">
              <a:lnSpc>
                <a:spcPts val="424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2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POINTER → ROOT, TEMP</a:t>
            </a:r>
          </a:p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b="true" sz="302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✔ USED FOR STORING AND CONTROLLING ROBOT DATA</a:t>
            </a:r>
          </a:p>
          <a:p>
            <a:pPr algn="ctr">
              <a:lnSpc>
                <a:spcPts val="4241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836507" y="2042385"/>
            <a:ext cx="9451493" cy="15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8"/>
              </a:lnSpc>
              <a:spcBef>
                <a:spcPct val="0"/>
              </a:spcBef>
            </a:pPr>
            <a:r>
              <a:rPr lang="en-US" b="true" sz="767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6.</a:t>
            </a:r>
            <a:r>
              <a:rPr lang="en-US" b="true" sz="767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SWITCH-CASE: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89843" y="4549530"/>
            <a:ext cx="9451493" cy="327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1"/>
              </a:lnSpc>
            </a:pPr>
            <a:r>
              <a:rPr lang="en-US" b="true" sz="302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1  INSERT ROBOT</a:t>
            </a:r>
          </a:p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b="true" sz="302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2  Delete Rob</a:t>
            </a:r>
            <a:r>
              <a:rPr lang="en-US" b="true" sz="302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OT</a:t>
            </a:r>
          </a:p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b="true" sz="302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3  UPDATE ROBOT</a:t>
            </a:r>
          </a:p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b="true" sz="302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4  SEARCH ROBOT</a:t>
            </a:r>
          </a:p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b="true" sz="302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5  DISPLAY ROBOTS</a:t>
            </a:r>
          </a:p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b="true" sz="302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6  EXIT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53737"/>
            <a:ext cx="61057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TIME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53317" y="253737"/>
            <a:ext cx="61057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COMPLEXITY: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3111105"/>
            <a:ext cx="6462106" cy="524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83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✔ Advantages:</a:t>
            </a:r>
          </a:p>
          <a:p>
            <a:pPr algn="l" marL="827693" indent="-413847" lvl="1">
              <a:lnSpc>
                <a:spcPts val="4562"/>
              </a:lnSpc>
              <a:buFont typeface="Arial"/>
              <a:buChar char="•"/>
            </a:pPr>
            <a:r>
              <a:rPr lang="en-US" sz="383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Fast searching of robots by ID or priority</a:t>
            </a:r>
          </a:p>
          <a:p>
            <a:pPr algn="l" marL="827693" indent="-413847" lvl="1">
              <a:lnSpc>
                <a:spcPts val="4562"/>
              </a:lnSpc>
              <a:buFont typeface="Arial"/>
              <a:buChar char="•"/>
            </a:pPr>
            <a:r>
              <a:rPr lang="en-US" sz="383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Automatic sorting of robot data</a:t>
            </a:r>
          </a:p>
          <a:p>
            <a:pPr algn="l" marL="827693" indent="-413847" lvl="1">
              <a:lnSpc>
                <a:spcPts val="4562"/>
              </a:lnSpc>
              <a:buFont typeface="Arial"/>
              <a:buChar char="•"/>
            </a:pPr>
            <a:r>
              <a:rPr lang="en-US" sz="383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Efficient insertion and deletion of robots in real-time</a:t>
            </a:r>
          </a:p>
          <a:p>
            <a:pPr algn="l">
              <a:lnSpc>
                <a:spcPts val="456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-568124" y="1959258"/>
            <a:ext cx="8291815" cy="66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9"/>
              </a:lnSpc>
              <a:spcBef>
                <a:spcPct val="0"/>
              </a:spcBef>
            </a:pPr>
            <a:r>
              <a:rPr lang="en-US" sz="49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7. BINARY SEARCH TREE (BST)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32354" y="1752186"/>
            <a:ext cx="4290060" cy="66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9"/>
              </a:lnSpc>
              <a:spcBef>
                <a:spcPct val="0"/>
              </a:spcBef>
            </a:pPr>
            <a:r>
              <a:rPr lang="en-US" sz="49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TIME COMPLEXITY: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04623" y="3093439"/>
            <a:ext cx="6584803" cy="447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  <a:spcBef>
                <a:spcPct val="0"/>
              </a:spcBef>
            </a:pPr>
            <a:r>
              <a:rPr lang="en-US" sz="57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•OPERATI</a:t>
            </a:r>
            <a:r>
              <a:rPr lang="en-US" sz="57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ON COMPLEXITY</a:t>
            </a:r>
          </a:p>
          <a:p>
            <a:pPr algn="ctr">
              <a:lnSpc>
                <a:spcPts val="5834"/>
              </a:lnSpc>
              <a:spcBef>
                <a:spcPct val="0"/>
              </a:spcBef>
            </a:pPr>
            <a:r>
              <a:rPr lang="en-US" sz="57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•INSERT         O(LOG N)</a:t>
            </a:r>
          </a:p>
          <a:p>
            <a:pPr algn="ctr">
              <a:lnSpc>
                <a:spcPts val="5834"/>
              </a:lnSpc>
              <a:spcBef>
                <a:spcPct val="0"/>
              </a:spcBef>
            </a:pPr>
            <a:r>
              <a:rPr lang="en-US" sz="57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•SEARCH        O(LOG N)</a:t>
            </a:r>
          </a:p>
          <a:p>
            <a:pPr algn="ctr">
              <a:lnSpc>
                <a:spcPts val="5834"/>
              </a:lnSpc>
              <a:spcBef>
                <a:spcPct val="0"/>
              </a:spcBef>
            </a:pPr>
            <a:r>
              <a:rPr lang="en-US" sz="57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•DELETE         O(LOG N)</a:t>
            </a:r>
          </a:p>
          <a:p>
            <a:pPr algn="ctr">
              <a:lnSpc>
                <a:spcPts val="5834"/>
              </a:lnSpc>
              <a:spcBef>
                <a:spcPct val="0"/>
              </a:spcBef>
            </a:pPr>
            <a:r>
              <a:rPr lang="en-US" sz="57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•DISPLAY       O(LOG N)</a:t>
            </a:r>
          </a:p>
          <a:p>
            <a:pPr algn="ctr">
              <a:lnSpc>
                <a:spcPts val="583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533" y="268095"/>
            <a:ext cx="61057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ALGORITHM: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533" y="1545277"/>
            <a:ext cx="6566414" cy="7580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</a:pPr>
            <a:r>
              <a:rPr lang="en-US" b="true" sz="283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🔹 INSERTION (ROBOT)</a:t>
            </a:r>
          </a:p>
          <a:p>
            <a:pPr algn="ctr" marL="612979" indent="-306490" lvl="1">
              <a:lnSpc>
                <a:spcPts val="3974"/>
              </a:lnSpc>
              <a:buAutoNum type="arabicPeriod" startAt="1"/>
            </a:pPr>
            <a:r>
              <a:rPr lang="en-US" b="true" sz="283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Compare the robot ID with the root node</a:t>
            </a:r>
          </a:p>
          <a:p>
            <a:pPr algn="ctr" marL="612979" indent="-306490" lvl="1">
              <a:lnSpc>
                <a:spcPts val="3974"/>
              </a:lnSpc>
              <a:spcBef>
                <a:spcPct val="0"/>
              </a:spcBef>
              <a:buAutoNum type="arabicPeriod" startAt="1"/>
            </a:pPr>
            <a:r>
              <a:rPr lang="en-US" b="true" sz="283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Insert int</a:t>
            </a:r>
            <a:r>
              <a:rPr lang="en-US" b="true" sz="283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 LEFT SUBTREE IF SMALLER, RIGHT IF LARGER</a:t>
            </a:r>
          </a:p>
          <a:p>
            <a:pPr algn="ctr" marL="612979" indent="-306490" lvl="1">
              <a:lnSpc>
                <a:spcPts val="3974"/>
              </a:lnSpc>
              <a:spcBef>
                <a:spcPct val="0"/>
              </a:spcBef>
              <a:buAutoNum type="arabicPeriod" startAt="1"/>
            </a:pPr>
            <a:r>
              <a:rPr lang="en-US" b="true" sz="283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REPEAT UNTIL THE CORRECT POSITION IS FOUND</a:t>
            </a:r>
          </a:p>
          <a:p>
            <a:pPr algn="ctr">
              <a:lnSpc>
                <a:spcPts val="3974"/>
              </a:lnSpc>
              <a:spcBef>
                <a:spcPct val="0"/>
              </a:spcBef>
            </a:pPr>
            <a:r>
              <a:rPr lang="en-US" b="true" sz="283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🔹 SEARCHING (ROBOT)</a:t>
            </a:r>
          </a:p>
          <a:p>
            <a:pPr algn="ctr" marL="612979" indent="-306490" lvl="1">
              <a:lnSpc>
                <a:spcPts val="3974"/>
              </a:lnSpc>
              <a:spcBef>
                <a:spcPct val="0"/>
              </a:spcBef>
              <a:buAutoNum type="arabicPeriod" startAt="1"/>
            </a:pPr>
            <a:r>
              <a:rPr lang="en-US" b="true" sz="283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START FROM THE ROOT NODE</a:t>
            </a:r>
          </a:p>
          <a:p>
            <a:pPr algn="ctr" marL="612979" indent="-306490" lvl="1">
              <a:lnSpc>
                <a:spcPts val="3974"/>
              </a:lnSpc>
              <a:spcBef>
                <a:spcPct val="0"/>
              </a:spcBef>
              <a:buAutoNum type="arabicPeriod" startAt="1"/>
            </a:pPr>
            <a:r>
              <a:rPr lang="en-US" b="true" sz="283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MOVE LEFT OR RIGHT BASED ON ROBOT ID COMPARISON</a:t>
            </a:r>
          </a:p>
          <a:p>
            <a:pPr algn="ctr" marL="612979" indent="-306490" lvl="1">
              <a:lnSpc>
                <a:spcPts val="3974"/>
              </a:lnSpc>
              <a:spcBef>
                <a:spcPct val="0"/>
              </a:spcBef>
              <a:buAutoNum type="arabicPeriod" startAt="1"/>
            </a:pPr>
            <a:r>
              <a:rPr lang="en-US" b="true" sz="283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STOP WHEN THE ROBOT IS FOUND OR NODE BECOMES NULL</a:t>
            </a:r>
          </a:p>
          <a:p>
            <a:pPr algn="ctr">
              <a:lnSpc>
                <a:spcPts val="397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966232" y="1526227"/>
            <a:ext cx="10321768" cy="572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1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🔹 UPDATE (R</a:t>
            </a:r>
            <a:r>
              <a:rPr lang="en-US" b="true" sz="32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OBOT)</a:t>
            </a:r>
          </a:p>
          <a:p>
            <a:pPr algn="ctr" marL="691083" indent="-345541" lvl="1">
              <a:lnSpc>
                <a:spcPts val="4481"/>
              </a:lnSpc>
              <a:spcBef>
                <a:spcPct val="0"/>
              </a:spcBef>
              <a:buAutoNum type="arabicPeriod" startAt="1"/>
            </a:pPr>
            <a:r>
              <a:rPr lang="en-US" b="true" sz="32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SEARCH FOR THE ROBOT USING ROBOT ID</a:t>
            </a:r>
          </a:p>
          <a:p>
            <a:pPr algn="ctr" marL="691083" indent="-345541" lvl="1">
              <a:lnSpc>
                <a:spcPts val="4481"/>
              </a:lnSpc>
              <a:spcBef>
                <a:spcPct val="0"/>
              </a:spcBef>
              <a:buAutoNum type="arabicPeriod" startAt="1"/>
            </a:pPr>
            <a:r>
              <a:rPr lang="en-US" b="true" sz="32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IF FOUND, MODIFY THE TASK/STATUS</a:t>
            </a:r>
          </a:p>
          <a:p>
            <a:pPr algn="ctr" marL="691083" indent="-345541" lvl="1">
              <a:lnSpc>
                <a:spcPts val="4481"/>
              </a:lnSpc>
              <a:spcBef>
                <a:spcPct val="0"/>
              </a:spcBef>
              <a:buAutoNum type="arabicPeriod" startAt="1"/>
            </a:pPr>
            <a:r>
              <a:rPr lang="en-US" b="true" sz="32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IF NOT FOUND, DISPLAY AN ERROR MESSAGE</a:t>
            </a:r>
          </a:p>
          <a:p>
            <a:pPr algn="ctr">
              <a:lnSpc>
                <a:spcPts val="4481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🔹 TRAVERSAL (DISPLAY)</a:t>
            </a:r>
          </a:p>
          <a:p>
            <a:pPr algn="ctr" marL="691083" indent="-345541" lvl="1">
              <a:lnSpc>
                <a:spcPts val="4481"/>
              </a:lnSpc>
              <a:spcBef>
                <a:spcPct val="0"/>
              </a:spcBef>
              <a:buAutoNum type="arabicPeriod" startAt="1"/>
            </a:pPr>
            <a:r>
              <a:rPr lang="en-US" b="true" sz="32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USE IN-ORDER TRAVERSAL (LEFT → ROOT → RIGHT) TO VISIT NODES IN SORTED ORDER</a:t>
            </a:r>
          </a:p>
          <a:p>
            <a:pPr algn="ctr" marL="691083" indent="-345541" lvl="1">
              <a:lnSpc>
                <a:spcPts val="4481"/>
              </a:lnSpc>
              <a:spcBef>
                <a:spcPct val="0"/>
              </a:spcBef>
              <a:buAutoNum type="arabicPeriod" startAt="1"/>
            </a:pPr>
            <a:r>
              <a:rPr lang="en-US" b="true" sz="32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DISPLAYS ALL ROBOT RECORDS CLEARLY (SORTED BY ID/PRIORITY)</a:t>
            </a:r>
          </a:p>
          <a:p>
            <a:pPr algn="ctr">
              <a:lnSpc>
                <a:spcPts val="448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741" y="296358"/>
            <a:ext cx="6572422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IMPLEMENTATION: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741" y="1401574"/>
            <a:ext cx="8427957" cy="735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7"/>
              </a:lnSpc>
              <a:spcBef>
                <a:spcPct val="0"/>
              </a:spcBef>
            </a:pPr>
            <a:r>
              <a:rPr lang="en-US" b="true" sz="274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🧩 CORE CONCEPTS USED</a:t>
            </a:r>
          </a:p>
          <a:p>
            <a:pPr algn="ctr" marL="593372" indent="-296686" lvl="1">
              <a:lnSpc>
                <a:spcPts val="384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4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STRUCTURES → TO REPRESENT ROBOT RECORDS</a:t>
            </a:r>
          </a:p>
          <a:p>
            <a:pPr algn="ctr" marL="593372" indent="-296686" lvl="1">
              <a:lnSpc>
                <a:spcPts val="384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4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POINTERS → FOR DYNAMIC MEMORY &amp; LINKING NODES</a:t>
            </a:r>
          </a:p>
          <a:p>
            <a:pPr algn="ctr" marL="593372" indent="-296686" lvl="1">
              <a:lnSpc>
                <a:spcPts val="384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4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FUNCTIONS → MODULAR AND REUSABLE CODE</a:t>
            </a:r>
          </a:p>
          <a:p>
            <a:pPr algn="ctr" marL="593372" indent="-296686" lvl="1">
              <a:lnSpc>
                <a:spcPts val="384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4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RECURSION → EFFICIENT TREE TRAVERSAL</a:t>
            </a:r>
          </a:p>
          <a:p>
            <a:pPr algn="ctr" marL="593372" indent="-296686" lvl="1">
              <a:lnSpc>
                <a:spcPts val="384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4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SWITCH-CASE → MENU-DRIVEN USER INTERFACE</a:t>
            </a:r>
          </a:p>
          <a:p>
            <a:pPr algn="ctr">
              <a:lnSpc>
                <a:spcPts val="3847"/>
              </a:lnSpc>
              <a:spcBef>
                <a:spcPct val="0"/>
              </a:spcBef>
            </a:pPr>
            <a:r>
              <a:rPr lang="en-US" b="true" sz="274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🔧 KEY FUNCTIONAL MODULES</a:t>
            </a:r>
          </a:p>
          <a:p>
            <a:pPr algn="ctr" marL="593372" indent="-296686" lvl="1">
              <a:lnSpc>
                <a:spcPts val="384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4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CREATENODE() → CREATES A NEW ROBOT RECORD</a:t>
            </a:r>
          </a:p>
          <a:p>
            <a:pPr algn="ctr" marL="593372" indent="-296686" lvl="1">
              <a:lnSpc>
                <a:spcPts val="384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4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INSERT() → ADDS A ROBOT INTO BST</a:t>
            </a:r>
          </a:p>
          <a:p>
            <a:pPr algn="ctr" marL="593372" indent="-296686" lvl="1">
              <a:lnSpc>
                <a:spcPts val="384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4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SEARCH() → FINDS A ROBOT BY ROBOT ID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43763" y="1211264"/>
            <a:ext cx="8944237" cy="649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2"/>
              </a:lnSpc>
            </a:pPr>
            <a:r>
              <a:rPr lang="en-US" b="true" sz="280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🔧 KEY FUNCTIONAL MODULES (CONTINUED)</a:t>
            </a:r>
          </a:p>
          <a:p>
            <a:pPr algn="ctr" marL="604892" indent="-302446" lvl="1">
              <a:lnSpc>
                <a:spcPts val="3922"/>
              </a:lnSpc>
              <a:buFont typeface="Arial"/>
              <a:buChar char="•"/>
            </a:pPr>
            <a:r>
              <a:rPr lang="en-US" b="true" sz="280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update() → Modifies robot task/status</a:t>
            </a:r>
          </a:p>
          <a:p>
            <a:pPr algn="ctr" marL="604892" indent="-302446" lvl="1">
              <a:lnSpc>
                <a:spcPts val="3922"/>
              </a:lnSpc>
              <a:buFont typeface="Arial"/>
              <a:buChar char="•"/>
            </a:pPr>
            <a:r>
              <a:rPr lang="en-US" b="true" sz="280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deleteNode() → Removes a robot</a:t>
            </a:r>
          </a:p>
          <a:p>
            <a:pPr algn="ctr" marL="604892" indent="-302446" lvl="1">
              <a:lnSpc>
                <a:spcPts val="3922"/>
              </a:lnSpc>
              <a:buFont typeface="Arial"/>
              <a:buChar char="•"/>
            </a:pPr>
            <a:r>
              <a:rPr lang="en-US" b="true" sz="280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findMin() → Finds in-order successor (smallest robot ID in subtree)</a:t>
            </a:r>
          </a:p>
          <a:p>
            <a:pPr algn="ctr" marL="604892" indent="-302446" lvl="1">
              <a:lnSpc>
                <a:spcPts val="3922"/>
              </a:lnSpc>
              <a:buFont typeface="Arial"/>
              <a:buChar char="•"/>
            </a:pPr>
            <a:r>
              <a:rPr lang="en-US" b="true" sz="280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display() → Shows sorted robot list</a:t>
            </a:r>
          </a:p>
          <a:p>
            <a:pPr algn="ctr">
              <a:lnSpc>
                <a:spcPts val="3922"/>
              </a:lnSpc>
            </a:pPr>
            <a:r>
              <a:rPr lang="en-US" sz="2801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⚙️ System Features</a:t>
            </a:r>
          </a:p>
          <a:p>
            <a:pPr algn="ctr">
              <a:lnSpc>
                <a:spcPts val="3922"/>
              </a:lnSpc>
            </a:pPr>
            <a:r>
              <a:rPr lang="en-US" sz="2801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✔ Dynamic memory allocation using malloc()</a:t>
            </a:r>
          </a:p>
          <a:p>
            <a:pPr algn="ctr">
              <a:lnSpc>
                <a:spcPts val="3922"/>
              </a:lnSpc>
            </a:pPr>
            <a:r>
              <a:rPr lang="en-US" sz="2801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✔ Efficient data handling using BST</a:t>
            </a:r>
          </a:p>
          <a:p>
            <a:pPr algn="ctr">
              <a:lnSpc>
                <a:spcPts val="3922"/>
              </a:lnSpc>
            </a:pPr>
            <a:r>
              <a:rPr lang="en-US" sz="2801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✔ Sorted output using in-order traversal</a:t>
            </a:r>
          </a:p>
          <a:p>
            <a:pPr algn="ctr">
              <a:lnSpc>
                <a:spcPts val="3922"/>
              </a:lnSpc>
            </a:pPr>
            <a:r>
              <a:rPr lang="en-US" sz="2801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✔ User-friendly menu-driven interface</a:t>
            </a:r>
          </a:p>
          <a:p>
            <a:pPr algn="ctr">
              <a:lnSpc>
                <a:spcPts val="392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810139" y="8233932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30"/>
                </a:lnTo>
                <a:lnTo>
                  <a:pt x="0" y="1064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8652" y="216415"/>
            <a:ext cx="6105749" cy="103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CONCLUSION: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11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382746" y="2065380"/>
            <a:ext cx="6440355" cy="6440355"/>
            <a:chOff x="0" y="0"/>
            <a:chExt cx="14840029" cy="14840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588D">
                    <a:alpha val="100000"/>
                  </a:srgbClr>
                </a:gs>
                <a:gs pos="100000">
                  <a:srgbClr val="58A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-24572" t="0" r="-24572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9144000" y="4200331"/>
            <a:ext cx="3517269" cy="3517269"/>
            <a:chOff x="0" y="0"/>
            <a:chExt cx="14840029" cy="14840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588D">
                    <a:alpha val="100000"/>
                  </a:srgbClr>
                </a:gs>
                <a:gs pos="100000">
                  <a:srgbClr val="58A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-24572" t="0" r="-24572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4012279" y="7717600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7189" y="1510687"/>
            <a:ext cx="9628718" cy="609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3102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This project demonstrates the effective use of a Binary Search Tree (BST) for managing robot data in a robotics control system. It ensures:</a:t>
            </a:r>
          </a:p>
          <a:p>
            <a:pPr algn="l">
              <a:lnSpc>
                <a:spcPts val="3692"/>
              </a:lnSpc>
            </a:pPr>
            <a:r>
              <a:rPr lang="en-US" sz="3102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✔ Faster data retrieval compared to traditional methods</a:t>
            </a:r>
          </a:p>
          <a:p>
            <a:pPr algn="l">
              <a:lnSpc>
                <a:spcPts val="3692"/>
              </a:lnSpc>
            </a:pPr>
            <a:r>
              <a:rPr lang="en-US" sz="3102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 ✔ Automatic sorting using in-order traversal</a:t>
            </a:r>
          </a:p>
          <a:p>
            <a:pPr algn="l">
              <a:lnSpc>
                <a:spcPts val="3692"/>
              </a:lnSpc>
            </a:pPr>
            <a:r>
              <a:rPr lang="en-US" sz="3102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 ✔ Efficient organization of robot information</a:t>
            </a:r>
          </a:p>
          <a:p>
            <a:pPr algn="l">
              <a:lnSpc>
                <a:spcPts val="3692"/>
              </a:lnSpc>
            </a:pPr>
            <a:r>
              <a:rPr lang="en-US" sz="3102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The system is:</a:t>
            </a:r>
          </a:p>
          <a:p>
            <a:pPr algn="l">
              <a:lnSpc>
                <a:spcPts val="3692"/>
              </a:lnSpc>
            </a:pPr>
            <a:r>
              <a:rPr lang="en-US" sz="3102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 ✔ Simple to implement</a:t>
            </a:r>
          </a:p>
          <a:p>
            <a:pPr algn="l">
              <a:lnSpc>
                <a:spcPts val="3692"/>
              </a:lnSpc>
            </a:pPr>
            <a:r>
              <a:rPr lang="en-US" sz="3102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 ✔ Scalable for moderate-sized robot networks</a:t>
            </a:r>
          </a:p>
          <a:p>
            <a:pPr algn="l">
              <a:lnSpc>
                <a:spcPts val="3692"/>
              </a:lnSpc>
            </a:pPr>
            <a:r>
              <a:rPr lang="en-US" sz="3102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 ✔ Suitable for real-time robotics control and monitoring systems</a:t>
            </a:r>
          </a:p>
          <a:p>
            <a:pPr algn="l">
              <a:lnSpc>
                <a:spcPts val="3692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65257"/>
            <a:ext cx="10675733" cy="1067573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565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2198" y="826941"/>
            <a:ext cx="8891337" cy="88913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59000"/>
                  </a:srgbClr>
                </a:gs>
                <a:gs pos="100000">
                  <a:srgbClr val="FFFFFF">
                    <a:alpha val="4602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76466" y="1711209"/>
            <a:ext cx="7122801" cy="712280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763148" y="2757014"/>
            <a:ext cx="5149438" cy="143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10633">
                <a:solidFill>
                  <a:srgbClr val="3584D0"/>
                </a:solidFill>
                <a:latin typeface="Anton"/>
                <a:ea typeface="Anton"/>
                <a:cs typeface="Anton"/>
                <a:sym typeface="Anton"/>
              </a:rPr>
              <a:t>THANK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53114" y="4216324"/>
            <a:ext cx="3769504" cy="143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10633">
                <a:solidFill>
                  <a:srgbClr val="22588D"/>
                </a:solidFill>
                <a:latin typeface="Anton"/>
                <a:ea typeface="Anton"/>
                <a:cs typeface="Anton"/>
                <a:sym typeface="Anton"/>
              </a:rPr>
              <a:t>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648643"/>
            <a:ext cx="8891337" cy="15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5"/>
              </a:lnSpc>
            </a:pPr>
            <a:r>
              <a:rPr lang="en-US" b="true" sz="273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TEAM BY:</a:t>
            </a:r>
          </a:p>
          <a:p>
            <a:pPr algn="ctr">
              <a:lnSpc>
                <a:spcPts val="3835"/>
              </a:lnSpc>
            </a:pPr>
            <a:r>
              <a:rPr lang="en-US" b="true" sz="273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P.JESWITH VENKATA SAI-1819</a:t>
            </a:r>
          </a:p>
          <a:p>
            <a:pPr algn="ctr">
              <a:lnSpc>
                <a:spcPts val="3835"/>
              </a:lnSpc>
              <a:spcBef>
                <a:spcPct val="0"/>
              </a:spcBef>
            </a:pPr>
            <a:r>
              <a:rPr lang="en-US" b="true" sz="273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M.LAKSHAN-1787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DAHHxhPFH7U</dc:identifier>
  <dcterms:modified xsi:type="dcterms:W3CDTF">2011-08-01T06:04:30Z</dcterms:modified>
  <cp:revision>1</cp:revision>
  <dc:title>robotics control system</dc:title>
</cp:coreProperties>
</file>